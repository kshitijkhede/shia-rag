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figs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" y="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Minor Project (IT897)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0972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Hierarchical Document-Tree Construction for Structure-Aware Retrieval-Augmented Generation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333333"/>
                </a:solidFill>
              </a:rPr>
              <a:t>BY</a:t>
            </a:r>
            <a:endParaRPr lang="en-US" sz="2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333333"/>
                </a:solidFill>
              </a:rPr>
              <a:t>Mr. KSHITIJ KHEDE (252IT010)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Department of Information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114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33333"/>
                </a:solidFill>
              </a:rPr>
              <a:t>National Institute of Technology Karnataka, Surathkal-575025</a:t>
            </a:r>
            <a:endParaRPr lang="en-US" sz="18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333333"/>
                </a:solidFill>
              </a:rPr>
              <a:t>Under the Guidance of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Prof. ANANTHANARAYANA V. 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figs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" y="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Table of Contents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005840"/>
            <a:ext cx="1005840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Introduction</a:t>
            </a:r>
            <a:endParaRPr lang="en-US" sz="20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Literature Survey</a:t>
            </a:r>
            <a:endParaRPr lang="en-US" sz="20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Problem Statement and Objectives</a:t>
            </a:r>
            <a:endParaRPr lang="en-US" sz="20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Methodology Used in this Work</a:t>
            </a:r>
            <a:endParaRPr lang="en-US" sz="20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Architecture</a:t>
            </a:r>
            <a:endParaRPr lang="en-US" sz="20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Results and Analysis</a:t>
            </a:r>
            <a:endParaRPr lang="en-US" sz="20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Discussion</a:t>
            </a:r>
            <a:endParaRPr lang="en-US" sz="20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Conclusion and Future Work</a:t>
            </a:r>
            <a:endParaRPr lang="en-US" sz="20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References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figs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" y="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Introduction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685800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</a:rPr>
              <a:t>Retrieval-Augmented Generation (RAG) lets an LLM answer using external documents instead of only its training data.</a:t>
            </a:r>
            <a:endParaRPr lang="en-US" sz="14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</a:rPr>
              <a:t>The quality of a RAG answer depends heavily on how the source document is represented before retrieval.</a:t>
            </a:r>
            <a:endParaRPr lang="en-US" sz="14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</a:rPr>
              <a:t>Research papers and technical PDFs are highly structured: multi-column layouts, numbered sections, and a title → section → subsection hierarchy.</a:t>
            </a:r>
            <a:endParaRPr lang="en-US" sz="14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</a:rPr>
              <a:t>Standard RAG pipelines flatten a PDF into fixed-size chunks, which destroys this structure:</a:t>
            </a:r>
            <a:endParaRPr lang="en-US" sz="1450" dirty="0"/>
          </a:p>
          <a:p>
            <a:pPr lvl="1" marL="381000" indent="-190500">
              <a:spcAft>
                <a:spcPts val="2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</a:rPr>
              <a:t>multi-column pages are read in the wrong order (text jumps across columns),</a:t>
            </a:r>
            <a:endParaRPr lang="en-US" sz="1450" dirty="0"/>
          </a:p>
          <a:p>
            <a:pPr lvl="1" marL="381000" indent="-1905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</a:rPr>
              <a:t>the parent–child relationship between sections is lost.</a:t>
            </a:r>
            <a:endParaRPr lang="en-US" sz="14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</a:rPr>
              <a:t>This work (minor project) builds a layout-aware, hierarchical, validated document representation — the foundation on which reliable retrieval can later be built.</a:t>
            </a:r>
            <a:endParaRPr lang="en-US" sz="1450" dirty="0"/>
          </a:p>
        </p:txBody>
      </p:sp>
      <p:pic>
        <p:nvPicPr>
          <p:cNvPr id="5" name="Image 1" descr="/home/claude/deckfigs/fig1_int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868680"/>
            <a:ext cx="3383280" cy="5074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406640" y="5943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Fig.1. Structured document to a validated concept hierarchy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figs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" y="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Literature Survey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Literature Survey — Structure-Aware Retrieval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Retrieval-Augmented Generation (RAG) improves an LLM's answers by retrieving relevant content from external documents at query time.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The quality of a RAG answer depends heavily on how a document is represented and chunked before retrieval — poor chunking loses information and breaks the links between related parts.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Early RAG systems split a document into flat, fixed-size passages, which discards its natural structure and reading order.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Recent research therefore moves toward hierarchical, structure-aware representations of documents.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Three works are most closely related to this project, each building document hierarchy differently:</a:t>
            </a:r>
            <a:endParaRPr lang="en-US" sz="1500" dirty="0"/>
          </a:p>
          <a:p>
            <a:pPr lvl="1" marL="381000" indent="-1905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RAPTOR — a tree built by recursive semantic clustering + summarisation</a:t>
            </a:r>
            <a:endParaRPr lang="en-US" sz="1500" dirty="0"/>
          </a:p>
          <a:p>
            <a:pPr lvl="1" marL="381000" indent="-1905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TreeRAG — tree-chunking that stores and retrieves along the document's hierarchy</a:t>
            </a:r>
            <a:endParaRPr lang="en-US" sz="1500" dirty="0"/>
          </a:p>
          <a:p>
            <a:pPr lvl="1" marL="3810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HiChunk — multi-level chunking using fine-tuned LLMs, with a dedicated benchmark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figs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" y="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Literature Survey Contd.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229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RAPTOR — Recursive Tree-Organized Retrieval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34440"/>
            <a:ext cx="685800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Problem: standard RAG retrieves only short contiguous chunks, limiting holistic understanding of a long document.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Core idea: recursively embed → cluster → summarise chunks, building a tree bottom-up with levels of summarisation.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At query time, retrieves from this tree, combining information at multiple levels of abstraction.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Result: significant gains on multi-step QA (e.g. +20% absolute on the QuALITY benchmark with GPT-4).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Open issue: the tree is built from semantic similarity (clustering) — it does not use the document's own layout or native section hierarchy.</a:t>
            </a:r>
            <a:endParaRPr lang="en-US" sz="1400" dirty="0"/>
          </a:p>
        </p:txBody>
      </p:sp>
      <p:pic>
        <p:nvPicPr>
          <p:cNvPr id="6" name="Image 1" descr="/home/claude/deckfigs/fig2_rap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097280"/>
            <a:ext cx="4023360" cy="5029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543800" y="6035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Fig.2. RAPTOR's recursive tree-building process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figs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" y="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Literature Survey Contd.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TreeRAG — Hierarchical Storage for Long Documents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</a:rPr>
              <a:t>Problem: naive chunking destroys chunk integrity and breaks connections between related chunks, hurting Query-Focused Summarisation.</a:t>
            </a:r>
            <a:endParaRPr lang="en-US" sz="15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</a:rPr>
              <a:t>Core idea: Tree-Chunking — chunk and embed content in a tree-like structure that preserves the document's hierarchy.</a:t>
            </a:r>
            <a:endParaRPr lang="en-US" sz="15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</a:rPr>
              <a:t>Retrieval: Bidirectional Traversal — "root-to-leaves" and "leaf-to-roots" — to keep related chunks connected and reduce noise.</a:t>
            </a:r>
            <a:endParaRPr lang="en-US" sz="15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</a:rPr>
              <a:t>Evaluated on Finance, Law and Medical subsets; improves recall, quality and precision.</a:t>
            </a:r>
            <a:endParaRPr lang="en-US" sz="15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</a:rPr>
              <a:t>Open issue: relies on the tree structure but does not address multi-column reading-order recovery or formal validation of the built tree.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figs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" y="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Literature Survey Contd.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HiChunk — Hierarchical Chunking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11247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Problem: document chunking lacks good evaluation; existing benchmarks miss chunking quality due to "evidence sparsity."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Core idea: multi-level (hierarchical) document structuring using fine-tuned LLMs, plus an Auto-Merge retrieval algorithm.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Introduces HiCBench, a benchmark with manually annotated multi-level chunking points.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566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Outcome of the Survey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Existing methods build hierarchy from semantics or learned models — the document's native layout and section numbering are underused.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Multi-column reading order is rarely recovered explicitly before structuring.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The induced hierarchy is not formally validated (no cycle / single-parent / depth guarantees).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figs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" y="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Problem Statement and Objectives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Problem Statement: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3444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33333"/>
                </a:solidFill>
              </a:rPr>
              <a:t>Standard RAG breaks a document into flat, fixed-size chunks, which discard the document's structure and the relationships between its sections. This project builds a system that converts a PDF into a hierarchical tree — title, sections, subsections — so that retrieval can follow the document's real structure instead of flat chunks, and quantifies the structure this tree preserves relative to flat chunking.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60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Objectives: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926080"/>
            <a:ext cx="11247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Build a pipeline that converts a PDF into a hierarchical section tree (title → section → subsection).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Recover correct reading order on multi-column pages and classify headings from numbering and font size.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Induce a validated parent–child hierarchy (acyclic, single-parent, depth-bounded) with a confidence score per node.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Evaluate tree-construction accuracy against the document's own section numbering.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Compare the tree against flat fixed-size chunking and quantify the structure it preserves.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Provide a web interface to upload a PDF and inspect the recovered tree.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figs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" y="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Methodology Used in this Work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2296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Methodology — Column-Gutter Reading-Order Recovery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25880"/>
            <a:ext cx="685800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Problem: naive top-to-bottom sorting jumps between columns on multi-column pages.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Idea: detect the column gutter and read each column fully before moving on.</a:t>
            </a:r>
            <a:endParaRPr lang="en-US" sz="1350" dirty="0"/>
          </a:p>
          <a:p>
            <a:pPr lvl="1" marL="381000" indent="-1905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Split the page at the vertical mid-line (gutter at page-width / 2).</a:t>
            </a:r>
            <a:endParaRPr lang="en-US" sz="1350" dirty="0"/>
          </a:p>
          <a:p>
            <a:pPr lvl="1" marL="381000" indent="-1905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Classify each block: left column, right column, or spanning (width &gt; 0.60 × page width).</a:t>
            </a:r>
            <a:endParaRPr lang="en-US" sz="1350" dirty="0"/>
          </a:p>
          <a:p>
            <a:pPr lvl="1" marL="381000" indent="-1905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Place spanning blocks into top or bottom bands (title, full-width figures).</a:t>
            </a:r>
            <a:endParaRPr lang="en-US" sz="1350" dirty="0"/>
          </a:p>
          <a:p>
            <a:pPr lvl="1" marL="3810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Within a column, cluster blocks into lines using band tolerance τ_y = 20 pt, then order top-to-bottom.</a:t>
            </a:r>
            <a:endParaRPr lang="en-US" sz="135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Output order: top-spanning → left column → right column → bottom-spanning.</a:t>
            </a:r>
            <a:endParaRPr lang="en-US" sz="1350" dirty="0"/>
          </a:p>
        </p:txBody>
      </p:sp>
      <p:pic>
        <p:nvPicPr>
          <p:cNvPr id="6" name="Image 1" descr="/home/claude/deckfigs/fig3_reador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097280"/>
            <a:ext cx="4114800" cy="44805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498080" y="5577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Fig.3. Column-gutter reading-order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figs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" y="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Methodology Used in this Work Cond.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Methodology — Hierarchy, Validation and Confidence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1124712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33333"/>
                </a:solidFill>
              </a:rPr>
              <a:t>Hierarchy induction (numbering-primary, semantic fallback):</a:t>
            </a:r>
            <a:endParaRPr lang="en-US" sz="1400" dirty="0"/>
          </a:p>
          <a:p>
            <a:pPr lvl="1" marL="381000" indent="-1905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Primary signal: section numbering — "3.1" attaches to "3" (deterministic, exact).</a:t>
            </a:r>
            <a:endParaRPr lang="en-US" sz="1400" dirty="0"/>
          </a:p>
          <a:p>
            <a:pPr lvl="1" marL="381000" indent="-1905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Fallback — Parent Ranking Engine (PRE) for unnumbered headings:  Score(u,c) = 0.40·S_struct + 0.40·S_sem + 0.20·S_level</a:t>
            </a:r>
            <a:endParaRPr lang="en-US" sz="1400" dirty="0"/>
          </a:p>
          <a:p>
            <a:pPr lvl="2"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33333"/>
                </a:solidFill>
              </a:rPr>
              <a:t>S_struct = 1 / (1 + log(1 + |order(c) − order(u)|));   S_sem = TF-IDF cosine;   S_level = max(0, 1 − 0.2·(Δlevel − 1))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33333"/>
                </a:solidFill>
              </a:rPr>
              <a:t>Graph validation (before each edge is added):</a:t>
            </a:r>
            <a:endParaRPr lang="en-US" sz="1400" dirty="0"/>
          </a:p>
          <a:p>
            <a:pPr lvl="1" marL="3810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No cycles (upward-DFS), single parent per node, depth ≤ D_max = 8, document isolation → no orphans.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333333"/>
                </a:solidFill>
              </a:rPr>
              <a:t>Confidence — KCE (topological propagation):</a:t>
            </a:r>
            <a:endParaRPr lang="en-US" sz="1400" dirty="0"/>
          </a:p>
          <a:p>
            <a:pPr lvl="1" marL="3810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C(v) = C_local(v) · (δ + (1 − δ)·C(parent)),  with δ = 0.85;  propagated in topological order (Kahn's algorithm).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figs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" y="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Architecture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System Architecture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34440"/>
            <a:ext cx="1124712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Dual-tier data model (validated schemas): Tier 1 = physical Text Blocks, Tier 2 = Concept Nodes.</a:t>
            </a:r>
            <a:endParaRPr lang="en-US" sz="1500" dirty="0"/>
          </a:p>
          <a:p>
            <a:pPr marL="190500" indent="-1905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Six modules, arranged as a pipeline:</a:t>
            </a:r>
            <a:endParaRPr lang="en-US" sz="1500" dirty="0"/>
          </a:p>
          <a:p>
            <a:pPr lvl="1" marL="381000" indent="-1905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PDF Ingestion — extract text blocks with geometry + font (pdfplumber)</a:t>
            </a:r>
            <a:endParaRPr lang="en-US" sz="1500" dirty="0"/>
          </a:p>
          <a:p>
            <a:pPr lvl="1" marL="381000" indent="-1905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Structural Parser — column-gutter reading order + heading classification</a:t>
            </a:r>
            <a:endParaRPr lang="en-US" sz="1500" dirty="0"/>
          </a:p>
          <a:p>
            <a:pPr lvl="1" marL="381000" indent="-1905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Concept Extractor — headings → concept nodes, grounded to blocks</a:t>
            </a:r>
            <a:endParaRPr lang="en-US" sz="1500" dirty="0"/>
          </a:p>
          <a:p>
            <a:pPr lvl="1" marL="381000" indent="-1905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Hierarchy Builder — numbering-primary attachment, PRE fallback</a:t>
            </a:r>
            <a:endParaRPr lang="en-US" sz="1500" dirty="0"/>
          </a:p>
          <a:p>
            <a:pPr lvl="1" marL="381000" indent="-1905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Graph Validator — acyclic, single-parent, depth-bound checks</a:t>
            </a:r>
            <a:endParaRPr lang="en-US" sz="1500" dirty="0"/>
          </a:p>
          <a:p>
            <a:pPr lvl="1" marL="381000" indent="-1905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KCE Scorer — topological confidence propagation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Data flow: PDF → blocks → ordered blocks → concepts → validated hierarchy → confidence-scored tree.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figs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" y="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Architecture</a:t>
            </a:r>
            <a:endParaRPr lang="en-US" sz="2700" dirty="0"/>
          </a:p>
        </p:txBody>
      </p:sp>
      <p:pic>
        <p:nvPicPr>
          <p:cNvPr id="4" name="Image 1" descr="/home/claude/deckfigs/fig4_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51560"/>
            <a:ext cx="10058400" cy="52120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Fig.4. Complete system architecture: a six-module pipeline over a dual-tier data model.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figs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" y="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Results and Analysis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Results — Tree Construction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Evaluated on 11 research-paper PDFs; gold structure = each document's own section numbering.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03120" y="1645920"/>
          <a:ext cx="795528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Measure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Structurally valid trees built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11 / 11  (100%)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Mean nodes / parent–child links per doc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22.2 / 21.2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Mean tree depth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2.4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Parent-Assignment Accuracy (PAA)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97.7%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Ancestor-Path Accuracy (APA)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96.8%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Ancestor-Context Precision (ACP)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97.3%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892040"/>
            <a:ext cx="11247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 valid tree is built for every document — acyclic, single-parent, depth ≤ 8, 0 orphans.</a:t>
            </a:r>
            <a:endParaRPr lang="en-US" sz="14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Near-perfect on 10 of 11 papers; the one weaker case (Self-RAG, PAA 78.9%) has irregular section numbering (stated as a limitation).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figs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" y="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Results and Analysis Contd.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Results — Tree vs. Flat Chunking (same 11 documents)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400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73736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Property (per document)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Flat chunking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Document tree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Units produced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68.7 chunks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22.2 nodes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Units crossing ≥ 2 sections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18.8%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0.0%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Parent–child links kept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</a:rPr>
                        <a:t>21.2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22376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Chunk-size ablation (% chunks crossing sections):</a:t>
            </a:r>
            <a:endParaRPr lang="en-US" sz="12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463040"/>
          <a:ext cx="3291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Window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Straddle 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8.6%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800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13.0%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15.9%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1200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18.8%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1500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22.9%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Tree (ours)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0.0%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548640" y="3063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3333"/>
                </a:solidFill>
              </a:rPr>
              <a:t>Flat chunking cuts across sections and keeps no parent–child links; the tree keeps every section intact and preserves all 21.2 links per document.</a:t>
            </a:r>
            <a:endParaRPr lang="en-US" sz="1150" dirty="0"/>
          </a:p>
        </p:txBody>
      </p:sp>
      <p:pic>
        <p:nvPicPr>
          <p:cNvPr id="9" name="Image 1" descr="/home/claude/deckfigs/tree_vs_chunks_fig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3611880"/>
            <a:ext cx="7891272" cy="26791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figs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" y="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Results and Analysis Contd.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Contribution — Example Output: Recovered Document Tree (RAG paper, PAA = 100%)</a:t>
            </a:r>
            <a:endParaRPr lang="en-US" sz="1500" dirty="0"/>
          </a:p>
        </p:txBody>
      </p:sp>
      <p:pic>
        <p:nvPicPr>
          <p:cNvPr id="5" name="Image 1" descr="/home/claude/deckfigs/fig5_output_tr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1188720"/>
            <a:ext cx="98755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figs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" y="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Discussion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914400"/>
            <a:ext cx="1124712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Tree, not chunks: flat fixed-size chunking cuts across sections (18.8% of chunks) and keeps 0 parent–child links; the document tree keeps every section intact (0%) and preserves all 21.2 links per document.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No chunk size closes the gap — flat straddling rises from 8.6% (500 chars) to 22.9% (1500 chars), while the tree stays at 0%.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Numbering is near-exact — a section number encodes its own parent (3.1 → 3); the PRE semantic fallback handles unnumbered headings.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Reading-order recovery (column-gutter) un-mixes multi-column pages before structuring, so downstream stages see the correct order.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Validation by construction — every edge checked before insertion: 0 cycles, 0 orphans, depth ≤ 8 across all 11 documents.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Lightweight — the six structural stages run in ~10.6 ms per document (excluding PDF parsing).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Limitation: accuracy is measured against numbering-derived gold (Self-RAG, with irregular numbering, is hardest).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Limitation: text-based PDFs only; the project builds and evaluates the tree but does not yet perform retrieval or answering.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figs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" y="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Conclusion and Future Work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229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Conclusion: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43000"/>
            <a:ext cx="11247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Built a complete, training-free system that converts a PDF into a validated hierarchical document tree (the minor-project problem).</a:t>
            </a:r>
            <a:endParaRPr lang="en-US" sz="13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Builds a valid tree for all 11 papers; recovers the section hierarchy with 97.7% PAA, 96.8% APA, 97.3% ACP.</a:t>
            </a:r>
            <a:endParaRPr lang="en-US" sz="13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Direct comparison: the tree preserves structure flat chunking destroys — 0% section-straddling vs 18.8%, and 21.2 parent–child links kept vs 0.</a:t>
            </a:r>
            <a:endParaRPr lang="en-US" sz="13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Graph validation guarantees soundness — 0 cycles, 0 orphans, depth ≤ 8 across all 11 papers.</a:t>
            </a:r>
            <a:endParaRPr lang="en-US" sz="13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Delivered as a reproducible six-stage pipeline with a web demo.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84048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Future Work: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160520"/>
            <a:ext cx="11247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Replace TF-IDF with a dense neural encoder (e.g. sentence embeddings) for stronger PRE.</a:t>
            </a:r>
            <a:endParaRPr lang="en-US" sz="13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Add cross-document linking to connect concepts across papers.</a:t>
            </a:r>
            <a:endParaRPr lang="en-US" sz="13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Build retrieval + answer generation on top of the validated hierarchy (full RAG).</a:t>
            </a:r>
            <a:endParaRPr lang="en-US" sz="13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Extend to scanned PDFs via OCR, and evaluate against human-annotated gold.</a:t>
            </a:r>
            <a:endParaRPr lang="en-US" sz="1350" dirty="0"/>
          </a:p>
          <a:p>
            <a:pPr marL="190500" indent="-1905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</a:rPr>
              <a:t>This minor project becomes one objective of the major project.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figs/header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74320" y="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References</a:t>
            </a:r>
            <a:endParaRPr lang="en-US" sz="27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05840"/>
            <a:ext cx="112471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[1] P. Sarthi, S. Abdullah, A. Tuli, S. Khanna, A. Goldie, and C. D. Manning, "RAPTOR: Recursive Abstractive Processing for Tree-Organized Retrieval," in Proc. ICLR, 2024.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[2] W. Tao, X. Xing, Y. Chen, L. Huang, and X. Xu, "TreeRAG: Unleashing the Power of Hierarchical Storage for Enhanced Knowledge Retrieval in Long Documents," South China University of Technology.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[3] W. Lu, K. Chen, R. Qiao, and X. Sun, "HiChunk: Evaluating and Enhancing Retrieval-Augmented Generation with Hierarchical Chunking," Tencent Youtu Lab, 2025.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548640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11111"/>
                </a:solidFill>
              </a:rPr>
              <a:t>THANK YOU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2026-09-16T04:36:40Z</dcterms:created>
  <dcterms:modified xsi:type="dcterms:W3CDTF">2026-09-16T04:36:40Z</dcterms:modified>
</cp:coreProperties>
</file>